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6" r:id="rId3"/>
    <p:sldId id="257" r:id="rId4"/>
    <p:sldId id="258" r:id="rId5"/>
    <p:sldId id="269" r:id="rId6"/>
    <p:sldId id="270" r:id="rId7"/>
    <p:sldId id="268" r:id="rId8"/>
    <p:sldId id="259" r:id="rId9"/>
    <p:sldId id="264" r:id="rId10"/>
    <p:sldId id="260" r:id="rId11"/>
    <p:sldId id="272" r:id="rId12"/>
    <p:sldId id="271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93" autoAdjust="0"/>
    <p:restoredTop sz="94660"/>
  </p:normalViewPr>
  <p:slideViewPr>
    <p:cSldViewPr snapToGrid="0" showGuides="1">
      <p:cViewPr varScale="1">
        <p:scale>
          <a:sx n="223" d="100"/>
          <a:sy n="223" d="100"/>
        </p:scale>
        <p:origin x="808" y="176"/>
      </p:cViewPr>
      <p:guideLst>
        <p:guide orient="horz" pos="2125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6.xml"/><Relationship Id="rId4" Type="http://schemas.openxmlformats.org/officeDocument/2006/relationships/tags" Target="../tags/tag15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9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7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2026/8/25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18" Type="http://schemas.openxmlformats.org/officeDocument/2006/relationships/tags" Target="../tags/tag6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4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3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5.xml"/><Relationship Id="rId1" Type="http://schemas.openxmlformats.org/officeDocument/2006/relationships/tags" Target="../tags/tag7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363595" y="2903855"/>
            <a:ext cx="579501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/>
              <a:t>安装</a:t>
            </a:r>
            <a:r>
              <a:rPr lang="en-US" altLang="zh-CN" sz="3200"/>
              <a:t>deepseek harness</a:t>
            </a:r>
            <a:r>
              <a:rPr lang="zh-CN" altLang="en-US" sz="3200"/>
              <a:t>教程</a:t>
            </a: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2987040" y="6391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>
                <a:latin typeface="Calibri" panose="020F0502020204030204"/>
                <a:ea typeface="宋体" panose="02010600030101010101" pitchFamily="2" charset="-122"/>
              </a:rPr>
              <a:t>搜索</a:t>
            </a:r>
            <a:r>
              <a:rPr lang="en-US" altLang="zh-CN" sz="1600">
                <a:latin typeface="Calibri" panose="020F0502020204030204"/>
                <a:ea typeface="Calibri" panose="020F0502020204030204"/>
              </a:rPr>
              <a:t>deepseek,</a:t>
            </a:r>
            <a:r>
              <a:rPr lang="zh-CN" altLang="en-US" sz="1600">
                <a:latin typeface="Calibri" panose="020F0502020204030204"/>
                <a:ea typeface="宋体" panose="02010600030101010101" pitchFamily="2" charset="-122"/>
              </a:rPr>
              <a:t>点击</a:t>
            </a:r>
            <a:r>
              <a:rPr lang="en-US" altLang="zh-CN" sz="1600">
                <a:latin typeface="Calibri" panose="020F0502020204030204"/>
                <a:ea typeface="Calibri" panose="020F0502020204030204"/>
              </a:rPr>
              <a:t>API</a:t>
            </a:r>
            <a:r>
              <a:rPr lang="zh-CN" altLang="en-US" sz="1600">
                <a:latin typeface="Calibri" panose="020F0502020204030204"/>
                <a:ea typeface="宋体" panose="02010600030101010101" pitchFamily="2" charset="-122"/>
              </a:rPr>
              <a:t>开放平台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7040" y="1188085"/>
            <a:ext cx="5261610" cy="237998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矩形 3"/>
          <p:cNvSpPr/>
          <p:nvPr/>
        </p:nvSpPr>
        <p:spPr>
          <a:xfrm>
            <a:off x="4618990" y="2372360"/>
            <a:ext cx="1279525" cy="852805"/>
          </a:xfrm>
          <a:prstGeom prst="rect">
            <a:avLst/>
          </a:prstGeom>
          <a:ln w="28575">
            <a:solidFill>
              <a:srgbClr val="FF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2987040" y="374935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>
                <a:latin typeface="Calibri" panose="020F0502020204030204"/>
                <a:ea typeface="宋体" panose="02010600030101010101" pitchFamily="2" charset="-122"/>
              </a:rPr>
              <a:t>创建</a:t>
            </a:r>
            <a:r>
              <a:rPr lang="en-US" altLang="zh-CN" sz="1600">
                <a:latin typeface="Calibri" panose="020F0502020204030204"/>
                <a:ea typeface="Calibri" panose="020F0502020204030204"/>
              </a:rPr>
              <a:t>API KEY</a:t>
            </a:r>
            <a:r>
              <a:rPr lang="zh-CN" altLang="en-US" sz="1600">
                <a:latin typeface="Calibri" panose="020F0502020204030204"/>
                <a:ea typeface="宋体" panose="02010600030101010101" pitchFamily="2" charset="-122"/>
              </a:rPr>
              <a:t>，复制</a:t>
            </a:r>
            <a:r>
              <a:rPr lang="en-US" altLang="zh-CN" sz="1600">
                <a:latin typeface="Calibri" panose="020F0502020204030204"/>
                <a:ea typeface="Calibri" panose="020F0502020204030204"/>
              </a:rPr>
              <a:t>KEY</a:t>
            </a:r>
          </a:p>
        </p:txBody>
      </p:sp>
      <p:pic>
        <p:nvPicPr>
          <p:cNvPr id="6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7845" y="4415790"/>
            <a:ext cx="8060690" cy="215709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矩形 6"/>
          <p:cNvSpPr/>
          <p:nvPr/>
        </p:nvSpPr>
        <p:spPr>
          <a:xfrm>
            <a:off x="3077845" y="5009515"/>
            <a:ext cx="1211580" cy="281940"/>
          </a:xfrm>
          <a:prstGeom prst="rect">
            <a:avLst/>
          </a:prstGeom>
          <a:ln w="28575">
            <a:solidFill>
              <a:srgbClr val="FF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10105390" y="5078095"/>
            <a:ext cx="640715" cy="281940"/>
          </a:xfrm>
          <a:prstGeom prst="rect">
            <a:avLst/>
          </a:prstGeom>
          <a:ln w="28575">
            <a:solidFill>
              <a:srgbClr val="FF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401320" y="217170"/>
            <a:ext cx="73875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1.</a:t>
            </a:r>
            <a:r>
              <a:rPr lang="zh-CN" altLang="en-US" dirty="0"/>
              <a:t>准备好</a:t>
            </a:r>
            <a:r>
              <a:rPr lang="en-US" altLang="zh-CN" dirty="0"/>
              <a:t>DeepSeek</a:t>
            </a:r>
            <a:r>
              <a:rPr lang="zh-CN" altLang="en-US" dirty="0"/>
              <a:t>的</a:t>
            </a:r>
            <a:r>
              <a:rPr lang="en-US" altLang="zh-CN" dirty="0"/>
              <a:t>API</a:t>
            </a:r>
            <a:r>
              <a:rPr lang="zh-CN" altLang="en-US" dirty="0"/>
              <a:t>，充值</a:t>
            </a:r>
            <a:r>
              <a:rPr lang="en-US" altLang="zh-CN" dirty="0"/>
              <a:t>10</a:t>
            </a:r>
            <a:r>
              <a:rPr lang="zh-CN" altLang="en-US" dirty="0"/>
              <a:t>元可以用很久（</a:t>
            </a:r>
            <a:r>
              <a:rPr lang="zh-CN" altLang="en-US" dirty="0">
                <a:solidFill>
                  <a:srgbClr val="C00000"/>
                </a:solidFill>
              </a:rPr>
              <a:t>自由选择</a:t>
            </a:r>
            <a:r>
              <a:rPr lang="en-US" altLang="zh-CN" dirty="0"/>
              <a:t>)</a:t>
            </a:r>
            <a:endParaRPr lang="zh-CN" altLang="en-US" dirty="0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屏幕截图 2026-08-23 16334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570" y="1305560"/>
            <a:ext cx="8840470" cy="467804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220345" y="26162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2.</a:t>
            </a:r>
            <a:r>
              <a:rPr lang="zh-CN" altLang="en-US"/>
              <a:t>安装</a:t>
            </a:r>
            <a:r>
              <a:rPr lang="en-US" altLang="zh-CN"/>
              <a:t>node.js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1004570" y="846455"/>
            <a:ext cx="40640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ClrTx/>
              <a:buSzTx/>
              <a:buFontTx/>
            </a:pPr>
            <a:r>
              <a:rPr lang="en-US" altLang="zh-CN" sz="1600" dirty="0" err="1">
                <a:latin typeface="Calibri" panose="020F0502020204030204"/>
                <a:ea typeface="Calibri" panose="020F0502020204030204"/>
              </a:rPr>
              <a:t>选择windows</a:t>
            </a:r>
            <a:r>
              <a:rPr lang="en-US" altLang="zh-CN" sz="1600" dirty="0">
                <a:latin typeface="Calibri" panose="020F0502020204030204"/>
                <a:ea typeface="Calibri" panose="020F0502020204030204"/>
              </a:rPr>
              <a:t> or mac</a:t>
            </a:r>
            <a:r>
              <a:rPr lang="zh-CN" altLang="en-US" sz="1600" dirty="0">
                <a:latin typeface="Calibri" panose="020F0502020204030204"/>
                <a:ea typeface="Calibri" panose="020F0502020204030204"/>
              </a:rPr>
              <a:t>安装</a:t>
            </a:r>
          </a:p>
        </p:txBody>
      </p:sp>
      <p:sp>
        <p:nvSpPr>
          <p:cNvPr id="9" name="矩形 8"/>
          <p:cNvSpPr/>
          <p:nvPr/>
        </p:nvSpPr>
        <p:spPr>
          <a:xfrm>
            <a:off x="2896235" y="4892040"/>
            <a:ext cx="1211580" cy="281940"/>
          </a:xfrm>
          <a:prstGeom prst="rect">
            <a:avLst/>
          </a:prstGeom>
          <a:ln w="28575">
            <a:solidFill>
              <a:srgbClr val="FF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4346575" y="2545080"/>
            <a:ext cx="721995" cy="255270"/>
          </a:xfrm>
          <a:prstGeom prst="rect">
            <a:avLst/>
          </a:prstGeom>
          <a:ln w="28575">
            <a:solidFill>
              <a:srgbClr val="FF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510" y="1469390"/>
            <a:ext cx="9936480" cy="4553585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09905" y="252730"/>
            <a:ext cx="101968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3.</a:t>
            </a:r>
            <a:r>
              <a:rPr lang="zh-CN" altLang="en-US"/>
              <a:t>打开</a:t>
            </a:r>
            <a:r>
              <a:rPr lang="en-US" altLang="zh-CN"/>
              <a:t>https://www.deepseek.com/harness/</a:t>
            </a:r>
            <a:r>
              <a:rPr lang="zh-CN" altLang="en-US"/>
              <a:t>，复制命令到终端或</a:t>
            </a:r>
            <a:r>
              <a:rPr lang="en-US" altLang="zh-CN"/>
              <a:t>powershell</a:t>
            </a:r>
            <a:r>
              <a:rPr lang="zh-CN" altLang="en-US"/>
              <a:t>运行</a:t>
            </a: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662940" y="57277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Windows</a:t>
            </a:r>
            <a:r>
              <a:rPr lang="zh-CN" altLang="en-US"/>
              <a:t>报错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744855" y="105156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管理员</a:t>
            </a:r>
            <a:r>
              <a:rPr lang="en-US" altLang="zh-CN"/>
              <a:t> PowerShell </a:t>
            </a:r>
            <a:r>
              <a:rPr lang="zh-CN" altLang="en-US"/>
              <a:t>执行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3610610" y="1082675"/>
            <a:ext cx="7711440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l"/>
            <a:r>
              <a:rPr lang="en-US" altLang="zh-CN" sz="1600" b="0" i="0">
                <a:solidFill>
                  <a:srgbClr val="1F2329"/>
                </a:solidFill>
                <a:latin typeface="ui-sans-serif"/>
                <a:ea typeface="ui-sans-serif"/>
              </a:rPr>
              <a:t>Set-ExecutionPolicy RemoteSigned -Scope CurrentUser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rcRect l="1012" r="6366" b="32462"/>
          <a:stretch>
            <a:fillRect/>
          </a:stretch>
        </p:blipFill>
        <p:spPr>
          <a:xfrm>
            <a:off x="909320" y="1539875"/>
            <a:ext cx="8041640" cy="286131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909320" y="470027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输入</a:t>
            </a:r>
            <a:r>
              <a:rPr lang="en-US" altLang="zh-CN"/>
              <a:t>Y</a:t>
            </a:r>
            <a:r>
              <a:rPr lang="zh-CN" altLang="en-US"/>
              <a:t>，回车</a:t>
            </a: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rcRect l="3074" t="3297" b="28768"/>
          <a:stretch>
            <a:fillRect/>
          </a:stretch>
        </p:blipFill>
        <p:spPr>
          <a:xfrm>
            <a:off x="469265" y="1617980"/>
            <a:ext cx="9210040" cy="329755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69265" y="796925"/>
            <a:ext cx="9918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运行</a:t>
            </a:r>
            <a:r>
              <a:rPr lang="en-US" altLang="zh-CN"/>
              <a:t>$env:DSH_HOME="D:\DeepSeek harness\dsh_data"; npx -y @deepseek-ai/dsh web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551180" y="120713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光标闪烁，等待安装，时间较长</a:t>
            </a: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899160" y="470535"/>
            <a:ext cx="40360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Mac</a:t>
            </a:r>
            <a:r>
              <a:rPr lang="zh-CN" altLang="en-US"/>
              <a:t>如果因为权限报错或网不好卡住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548640" y="1245870"/>
            <a:ext cx="9110980" cy="4582160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 algn="l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600" b="0">
                <a:solidFill>
                  <a:srgbClr val="1F2329"/>
                </a:solidFill>
              </a:rPr>
              <a:t>先换国内镜像源（避免网络慢卡住）</a:t>
            </a:r>
          </a:p>
          <a:p>
            <a:pPr marL="0" indent="0" algn="l">
              <a:lnSpc>
                <a:spcPct val="2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600" b="0">
                <a:solidFill>
                  <a:srgbClr val="1F2329"/>
                </a:solidFill>
              </a:rPr>
              <a:t>npm config set registry https://registry.npmmirror.com</a:t>
            </a:r>
          </a:p>
          <a:p>
            <a:pPr marL="0" indent="0" algn="l">
              <a:lnSpc>
                <a:spcPct val="20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b="0">
                <a:solidFill>
                  <a:srgbClr val="1F2329"/>
                </a:solidFill>
              </a:rPr>
              <a:t>这一步不是必须的，但能大大提速</a:t>
            </a:r>
          </a:p>
          <a:p>
            <a:pPr marL="0" indent="0" algn="l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1600" b="0">
                <a:solidFill>
                  <a:srgbClr val="1F2329"/>
                </a:solidFill>
              </a:rPr>
              <a:t>2.</a:t>
            </a:r>
            <a:r>
              <a:rPr lang="zh-CN" altLang="en-US" sz="1600" b="0">
                <a:solidFill>
                  <a:srgbClr val="1F2329"/>
                </a:solidFill>
              </a:rPr>
              <a:t>用管理员权限安装</a:t>
            </a:r>
          </a:p>
          <a:p>
            <a:pPr marL="0" indent="0" algn="l">
              <a:lnSpc>
                <a:spcPct val="2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600" b="0">
                <a:solidFill>
                  <a:srgbClr val="1F2329"/>
                </a:solidFill>
              </a:rPr>
              <a:t>sudo npm install -g @deepseek-ai/dsh</a:t>
            </a:r>
          </a:p>
          <a:p>
            <a:pPr marL="0" indent="0" algn="l">
              <a:lnSpc>
                <a:spcPct val="20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600" b="0">
                <a:solidFill>
                  <a:srgbClr val="1F2329"/>
                </a:solidFill>
              </a:rPr>
              <a:t>执行后会提示你输入电脑的开机密码（就是登录 </a:t>
            </a:r>
            <a:r>
              <a:rPr lang="en-US" altLang="zh-CN" sz="1600" b="0">
                <a:solidFill>
                  <a:srgbClr val="1F2329"/>
                </a:solidFill>
              </a:rPr>
              <a:t>Mac </a:t>
            </a:r>
            <a:r>
              <a:rPr lang="zh-CN" altLang="en-US" sz="1600" b="0">
                <a:solidFill>
                  <a:srgbClr val="1F2329"/>
                </a:solidFill>
              </a:rPr>
              <a:t>的密码）</a:t>
            </a:r>
          </a:p>
          <a:p>
            <a:pPr marL="0" indent="0" algn="l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zh-CN" altLang="en-US" sz="1600" b="0">
                <a:solidFill>
                  <a:srgbClr val="1F2329"/>
                </a:solidFill>
              </a:rPr>
              <a:t>输入时终端不会显示任何字符</a:t>
            </a:r>
            <a:r>
              <a:rPr lang="en-US" altLang="zh-CN" sz="1600" b="0">
                <a:solidFill>
                  <a:srgbClr val="1F2329"/>
                </a:solidFill>
              </a:rPr>
              <a:t>(</a:t>
            </a:r>
            <a:r>
              <a:rPr lang="zh-CN" altLang="en-US" sz="1600" b="0">
                <a:solidFill>
                  <a:srgbClr val="1F2329"/>
                </a:solidFill>
              </a:rPr>
              <a:t>连星号都没有</a:t>
            </a:r>
            <a:r>
              <a:rPr lang="en-US" altLang="zh-CN" sz="1600" b="0">
                <a:solidFill>
                  <a:srgbClr val="1F2329"/>
                </a:solidFill>
              </a:rPr>
              <a:t>)</a:t>
            </a:r>
            <a:r>
              <a:rPr lang="zh-CN" altLang="en-US" sz="1600" b="0">
                <a:solidFill>
                  <a:srgbClr val="1F2329"/>
                </a:solidFill>
              </a:rPr>
              <a:t>，这是正常的，输完按回车就行</a:t>
            </a:r>
          </a:p>
          <a:p>
            <a:pPr marL="0" indent="0" algn="l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zh-CN" altLang="en-US" sz="1600" b="0">
                <a:solidFill>
                  <a:srgbClr val="1F2329"/>
                </a:solidFill>
              </a:rPr>
              <a:t>然后你会看到进度条和安装过程，等待完成即可</a:t>
            </a:r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5860" y="1419225"/>
            <a:ext cx="9667240" cy="4998085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365125" y="25273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4.</a:t>
            </a:r>
            <a:r>
              <a:rPr lang="zh-CN" altLang="en-US"/>
              <a:t>安装完成后会弹出输入</a:t>
            </a:r>
            <a:r>
              <a:rPr lang="en-US" altLang="zh-CN"/>
              <a:t>API</a:t>
            </a:r>
            <a:r>
              <a:rPr lang="zh-CN" altLang="en-US"/>
              <a:t>的窗口</a:t>
            </a:r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屏幕截图 2026-08-23 21475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450" y="1277620"/>
            <a:ext cx="7580630" cy="501904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01955" y="271780"/>
            <a:ext cx="65836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5.</a:t>
            </a:r>
            <a:r>
              <a:rPr lang="zh-CN" altLang="en-US"/>
              <a:t>设置</a:t>
            </a:r>
            <a:r>
              <a:rPr lang="en-US" altLang="zh-CN"/>
              <a:t>-</a:t>
            </a:r>
            <a:r>
              <a:rPr lang="zh-CN" altLang="en-US"/>
              <a:t>模型，添加提供方，可切换英伟达的模型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8880475" y="1922780"/>
            <a:ext cx="406400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推荐模型：</a:t>
            </a:r>
          </a:p>
          <a:p>
            <a:r>
              <a:rPr lang="en-US" altLang="zh-CN">
                <a:sym typeface="+mn-ea"/>
              </a:rPr>
              <a:t>nemotron-3-ultra-550b-a55b</a:t>
            </a:r>
            <a:endParaRPr lang="en-US" altLang="zh-CN"/>
          </a:p>
          <a:p>
            <a:r>
              <a:rPr lang="en-US" altLang="zh-CN"/>
              <a:t>nemotron-3-nano-30b-a3b</a:t>
            </a:r>
          </a:p>
          <a:p>
            <a:r>
              <a:rPr lang="en-US" altLang="zh-CN"/>
              <a:t>minimax-m3</a:t>
            </a:r>
          </a:p>
          <a:p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681990" y="967740"/>
            <a:ext cx="477393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1.</a:t>
            </a:r>
            <a:r>
              <a:rPr lang="zh-CN" altLang="en-US"/>
              <a:t>输入网址</a:t>
            </a:r>
            <a:r>
              <a:rPr lang="en-US" altLang="zh-CN"/>
              <a:t>https://build.nvidia.com/</a:t>
            </a:r>
            <a:r>
              <a:rPr lang="zh-CN" altLang="en-US"/>
              <a:t>，通过邮箱注册登录，</a:t>
            </a:r>
            <a:r>
              <a:rPr lang="en-US" altLang="zh-CN"/>
              <a:t>log in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2.</a:t>
            </a:r>
            <a:r>
              <a:rPr lang="zh-CN" altLang="en-US"/>
              <a:t>右上角用户点</a:t>
            </a:r>
            <a:r>
              <a:rPr lang="en-US" altLang="zh-CN"/>
              <a:t>API KEY</a:t>
            </a:r>
            <a:r>
              <a:rPr lang="zh-CN" altLang="en-US"/>
              <a:t>，再点击生成</a:t>
            </a:r>
            <a:r>
              <a:rPr lang="en-US" altLang="zh-CN"/>
              <a:t>API</a:t>
            </a:r>
          </a:p>
          <a:p>
            <a:endParaRPr lang="en-US" altLang="zh-CN"/>
          </a:p>
          <a:p>
            <a:r>
              <a:rPr lang="en-US" altLang="zh-CN"/>
              <a:t>3.</a:t>
            </a:r>
            <a:r>
              <a:rPr lang="zh-CN" altLang="en-US"/>
              <a:t>输入</a:t>
            </a:r>
            <a:r>
              <a:rPr lang="en-US" altLang="zh-CN"/>
              <a:t>API</a:t>
            </a:r>
            <a:r>
              <a:rPr lang="zh-CN" altLang="en-US"/>
              <a:t>名字，点击生成</a:t>
            </a:r>
            <a:r>
              <a:rPr lang="en-US" altLang="zh-CN"/>
              <a:t>API</a:t>
            </a:r>
          </a:p>
        </p:txBody>
      </p:sp>
      <p:pic>
        <p:nvPicPr>
          <p:cNvPr id="1497422913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2545" y="560705"/>
            <a:ext cx="5043170" cy="2073910"/>
          </a:xfrm>
          <a:prstGeom prst="rect">
            <a:avLst/>
          </a:prstGeom>
        </p:spPr>
      </p:pic>
      <p:pic>
        <p:nvPicPr>
          <p:cNvPr id="1093470783" name="图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" y="3373120"/>
            <a:ext cx="5274310" cy="2703195"/>
          </a:xfrm>
          <a:prstGeom prst="rect">
            <a:avLst/>
          </a:prstGeom>
        </p:spPr>
      </p:pic>
      <p:pic>
        <p:nvPicPr>
          <p:cNvPr id="1562169247" name="图片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750" y="3061653"/>
            <a:ext cx="4973320" cy="3325495"/>
          </a:xfrm>
          <a:prstGeom prst="rect">
            <a:avLst/>
          </a:prstGeom>
        </p:spPr>
      </p:pic>
      <p:sp>
        <p:nvSpPr>
          <p:cNvPr id="9" name="矩形 8"/>
          <p:cNvSpPr/>
          <p:nvPr/>
        </p:nvSpPr>
        <p:spPr>
          <a:xfrm>
            <a:off x="7801610" y="1936115"/>
            <a:ext cx="2225040" cy="283845"/>
          </a:xfrm>
          <a:prstGeom prst="rect">
            <a:avLst/>
          </a:prstGeom>
          <a:ln w="28575">
            <a:solidFill>
              <a:srgbClr val="FF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4984115" y="3533140"/>
            <a:ext cx="876935" cy="281940"/>
          </a:xfrm>
          <a:prstGeom prst="rect">
            <a:avLst/>
          </a:prstGeom>
          <a:ln w="28575">
            <a:solidFill>
              <a:srgbClr val="FF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9437370" y="5417820"/>
            <a:ext cx="795020" cy="281940"/>
          </a:xfrm>
          <a:prstGeom prst="rect">
            <a:avLst/>
          </a:prstGeom>
          <a:ln w="28575">
            <a:solidFill>
              <a:srgbClr val="FF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781685" y="19240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获取英伟达</a:t>
            </a:r>
            <a:r>
              <a:rPr lang="en-US" altLang="zh-CN" b="1"/>
              <a:t>API</a:t>
            </a:r>
            <a:r>
              <a:rPr lang="zh-CN" altLang="en-US" b="1"/>
              <a:t>教程</a:t>
            </a:r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922655"/>
            <a:ext cx="5151755" cy="225552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483870" y="29083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添加自定义提供方</a:t>
            </a:r>
            <a:r>
              <a:rPr lang="en-US" altLang="zh-CN" b="1"/>
              <a:t>-</a:t>
            </a:r>
            <a:r>
              <a:rPr lang="zh-CN" altLang="en-US" b="1"/>
              <a:t>使用学校模型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010" y="387985"/>
            <a:ext cx="4605655" cy="389382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80365" y="4087495"/>
            <a:ext cx="10802620" cy="2584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接口地址：</a:t>
            </a:r>
            <a:r>
              <a:rPr lang="en-US" altLang="zh-CN"/>
              <a:t>http://10.22.18.12:9901/v1</a:t>
            </a:r>
          </a:p>
          <a:p>
            <a:r>
              <a:rPr lang="en-US" altLang="zh-CN"/>
              <a:t>       </a:t>
            </a:r>
          </a:p>
          <a:p>
            <a:r>
              <a:rPr lang="en-US" altLang="zh-CN"/>
              <a:t> APIKey</a:t>
            </a:r>
            <a:r>
              <a:rPr lang="zh-CN" altLang="en-US"/>
              <a:t>：学校会统一申请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       Deepseek-v4-flash</a:t>
            </a:r>
            <a:r>
              <a:rPr lang="zh-CN" altLang="en-US"/>
              <a:t>模型</a:t>
            </a:r>
            <a:r>
              <a:rPr lang="en-US" altLang="zh-CN"/>
              <a:t>ID：deepseek-v4-flash</a:t>
            </a:r>
          </a:p>
          <a:p>
            <a:r>
              <a:rPr lang="en-US" altLang="zh-CN"/>
              <a:t>       Qwen3.6-35B-A3B</a:t>
            </a:r>
            <a:r>
              <a:rPr lang="zh-CN" altLang="en-US"/>
              <a:t>模型</a:t>
            </a:r>
            <a:r>
              <a:rPr lang="en-US" altLang="zh-CN"/>
              <a:t>ID：Qwen3.6-35B-A3B</a:t>
            </a:r>
          </a:p>
          <a:p>
            <a:r>
              <a:rPr lang="en-US" altLang="zh-CN"/>
              <a:t>       Qwen3-VL-8B-Instruct</a:t>
            </a:r>
            <a:r>
              <a:rPr lang="zh-CN" altLang="en-US"/>
              <a:t>模型</a:t>
            </a:r>
            <a:r>
              <a:rPr lang="en-US" altLang="zh-CN"/>
              <a:t>ID：Qwen3-VL-8B-Instruct</a:t>
            </a:r>
          </a:p>
          <a:p>
            <a:r>
              <a:rPr lang="en-US" altLang="zh-CN"/>
              <a:t>       Qwen3-Embedding</a:t>
            </a:r>
            <a:r>
              <a:rPr lang="zh-CN" altLang="en-US"/>
              <a:t>模型</a:t>
            </a:r>
            <a:r>
              <a:rPr lang="en-US" altLang="zh-CN"/>
              <a:t>ID：Qwen-embedding</a:t>
            </a:r>
          </a:p>
          <a:p>
            <a:r>
              <a:rPr lang="en-US" altLang="zh-CN"/>
              <a:t>       Qwen3-Reranker</a:t>
            </a:r>
            <a:r>
              <a:rPr lang="zh-CN" altLang="en-US"/>
              <a:t>模型</a:t>
            </a:r>
            <a:r>
              <a:rPr lang="en-US" altLang="zh-CN"/>
              <a:t>ID：reranker</a:t>
            </a:r>
          </a:p>
        </p:txBody>
      </p:sp>
      <p:sp>
        <p:nvSpPr>
          <p:cNvPr id="8" name="矩形 7"/>
          <p:cNvSpPr/>
          <p:nvPr/>
        </p:nvSpPr>
        <p:spPr>
          <a:xfrm>
            <a:off x="4107180" y="2823210"/>
            <a:ext cx="1298575" cy="251460"/>
          </a:xfrm>
          <a:prstGeom prst="rect">
            <a:avLst/>
          </a:prstGeom>
          <a:ln w="28575">
            <a:solidFill>
              <a:srgbClr val="FF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7782560" y="1909445"/>
            <a:ext cx="3400425" cy="364490"/>
          </a:xfrm>
          <a:prstGeom prst="rect">
            <a:avLst/>
          </a:prstGeom>
          <a:ln w="28575">
            <a:solidFill>
              <a:srgbClr val="FF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7896225" y="2720340"/>
            <a:ext cx="3181350" cy="457835"/>
          </a:xfrm>
          <a:prstGeom prst="rect">
            <a:avLst/>
          </a:prstGeom>
          <a:ln w="28575">
            <a:solidFill>
              <a:srgbClr val="FF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/>
              <a:t>关闭后启动，打开终端运行</a:t>
            </a:r>
          </a:p>
          <a:p>
            <a:pPr marL="0" indent="0">
              <a:buNone/>
            </a:pPr>
            <a:r>
              <a:rPr lang="en-US" altLang="zh-CN"/>
              <a:t>set "DSH_HOME=D:\DeepSeek harness\dsh_data" &amp;&amp; npx -y @deepseek-ai/dsh web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400</Words>
  <Application>Microsoft Macintosh PowerPoint</Application>
  <PresentationFormat>Widescreen</PresentationFormat>
  <Paragraphs>46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ui-sans-serif</vt:lpstr>
      <vt:lpstr>Arial</vt:lpstr>
      <vt:lpstr>Calibri</vt:lpstr>
      <vt:lpstr>Wingdings</vt:lpstr>
      <vt:lpstr>WPS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Liwei Xie</cp:lastModifiedBy>
  <cp:revision>164</cp:revision>
  <dcterms:created xsi:type="dcterms:W3CDTF">2019-06-19T02:08:00Z</dcterms:created>
  <dcterms:modified xsi:type="dcterms:W3CDTF">2026-08-25T13:03:55Z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B5F3749630C144ECAB871A2962AD4CB0_13</vt:lpwstr>
  </property>
</Properties>
</file>